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a167c78054e34" /><Relationship Type="http://schemas.openxmlformats.org/officeDocument/2006/relationships/extended-properties" Target="/docProps/app.xml" Id="R1c6734bc635a410e" /><Relationship Type="http://schemas.openxmlformats.org/officeDocument/2006/relationships/officeDocument" Target="/ppt/presentation.xml" Id="R16020a02a4c442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86c82be7184f50"/>
  </p:sldMasterIdLst>
  <p:notesMasterIdLst>
    <p:notesMasterId xmlns:r="http://schemas.openxmlformats.org/officeDocument/2006/relationships" r:id="Rdac636b444524eee"/>
  </p:notesMasterIdLst>
  <p:sldIdLst>
    <p:sldId xmlns:r="http://schemas.openxmlformats.org/officeDocument/2006/relationships" id="256" r:id="R419a57096c954ba5"/>
    <p:sldId xmlns:r="http://schemas.openxmlformats.org/officeDocument/2006/relationships" id="257" r:id="Rb4bd325625b643fe"/>
    <p:sldId xmlns:r="http://schemas.openxmlformats.org/officeDocument/2006/relationships" id="258" r:id="Rff47340a80f6427e"/>
    <p:sldId xmlns:r="http://schemas.openxmlformats.org/officeDocument/2006/relationships" id="259" r:id="R977d6c4437ea4f44"/>
    <p:sldId xmlns:r="http://schemas.openxmlformats.org/officeDocument/2006/relationships" id="260" r:id="Rabb3867c4330401a"/>
    <p:sldId xmlns:r="http://schemas.openxmlformats.org/officeDocument/2006/relationships" id="261" r:id="Rffe3edfc967c42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6c82be7184f50" /><Relationship Type="http://schemas.openxmlformats.org/officeDocument/2006/relationships/theme" Target="/ppt/theme/theme1.xml" Id="R25e80e7cde914b36" /><Relationship Type="http://schemas.openxmlformats.org/officeDocument/2006/relationships/notesMaster" Target="/ppt/notesMasters/notesMaster1.xml" Id="Rdac636b444524eee" /><Relationship Type="http://schemas.openxmlformats.org/officeDocument/2006/relationships/presProps" Target="/ppt/presProps.xml" Id="Rfe7a7cf5b58e4d84" /><Relationship Type="http://schemas.openxmlformats.org/officeDocument/2006/relationships/viewProps" Target="/ppt/viewProps.xml" Id="Rd02aec2786284a1c" /><Relationship Type="http://schemas.openxmlformats.org/officeDocument/2006/relationships/tableStyles" Target="/ppt/tableStyles.xml" Id="Ra0ab6e9c1a024c4a" /><Relationship Type="http://schemas.openxmlformats.org/officeDocument/2006/relationships/slide" Target="/ppt/slides/slide1.xml" Id="R419a57096c954ba5" /><Relationship Type="http://schemas.openxmlformats.org/officeDocument/2006/relationships/slide" Target="/ppt/slides/slide2.xml" Id="Rb4bd325625b643fe" /><Relationship Type="http://schemas.openxmlformats.org/officeDocument/2006/relationships/slide" Target="/ppt/slides/slide3.xml" Id="Rff47340a80f6427e" /><Relationship Type="http://schemas.openxmlformats.org/officeDocument/2006/relationships/slide" Target="/ppt/slides/slide4.xml" Id="R977d6c4437ea4f44" /><Relationship Type="http://schemas.openxmlformats.org/officeDocument/2006/relationships/slide" Target="/ppt/slides/slide5.xml" Id="Rabb3867c4330401a" /><Relationship Type="http://schemas.openxmlformats.org/officeDocument/2006/relationships/slide" Target="/ppt/slides/slide6.xml" Id="Rffe3edfc967c42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6f127ca39014c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b60adfe56646c7" /><Relationship Type="http://schemas.openxmlformats.org/officeDocument/2006/relationships/notesMaster" Target="/ppt/notesMasters/notesMaster1.xml" Id="R903af9801928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ef1f38d4eb4877" /><Relationship Type="http://schemas.openxmlformats.org/officeDocument/2006/relationships/notesMaster" Target="/ppt/notesMasters/notesMaster1.xml" Id="Rc403e06405ae43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60e97932764fdb" /><Relationship Type="http://schemas.openxmlformats.org/officeDocument/2006/relationships/notesMaster" Target="/ppt/notesMasters/notesMaster1.xml" Id="Rbc57a2152fbe4a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062a70b86a4819" /><Relationship Type="http://schemas.openxmlformats.org/officeDocument/2006/relationships/notesMaster" Target="/ppt/notesMasters/notesMaster1.xml" Id="Rc34f2735c79649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20f741374c43e0" /><Relationship Type="http://schemas.openxmlformats.org/officeDocument/2006/relationships/notesMaster" Target="/ppt/notesMasters/notesMaster1.xml" Id="Rd57733a7a1334b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0613cc75ce430a" /><Relationship Type="http://schemas.openxmlformats.org/officeDocument/2006/relationships/notesMaster" Target="/ppt/notesMasters/notesMaster1.xml" Id="Rfd70a8e039d4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4c9b9a4ff450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fb2d20a610491c" /><Relationship Type="http://schemas.openxmlformats.org/officeDocument/2006/relationships/slideLayout" Target="/ppt/slideLayouts/slideLayout2.xml" Id="R2a28a5fb874e47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28a5fb874e47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25a127befb433f" /><Relationship Type="http://schemas.openxmlformats.org/officeDocument/2006/relationships/image" Target="/ppt/media/image.jpeg" Id="R2ccf620b879747ce" /><Relationship Type="http://schemas.openxmlformats.org/officeDocument/2006/relationships/image" Target="/ppt/media/image2.jpeg" Id="Rf90e7fbd29214dce" /><Relationship Type="http://schemas.openxmlformats.org/officeDocument/2006/relationships/notesSlide" Target="/ppt/notesSlides/notesSlide1.xml" Id="Re249b71a3c1d4f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a64537e1a64538" /><Relationship Type="http://schemas.openxmlformats.org/officeDocument/2006/relationships/notesSlide" Target="/ppt/notesSlides/notesSlide2.xml" Id="R3516a462973440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edff1fb465455e" /><Relationship Type="http://schemas.openxmlformats.org/officeDocument/2006/relationships/notesSlide" Target="/ppt/notesSlides/notesSlide3.xml" Id="Rc191e2acb3fe4d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aa1e0b7cf64057" /><Relationship Type="http://schemas.openxmlformats.org/officeDocument/2006/relationships/image" Target="/ppt/media/image3.jpeg" Id="Rae8fe5ceac624493" /><Relationship Type="http://schemas.openxmlformats.org/officeDocument/2006/relationships/image" Target="/ppt/media/image4.jpeg" Id="Rbfe3546d35d4489c" /><Relationship Type="http://schemas.openxmlformats.org/officeDocument/2006/relationships/notesSlide" Target="/ppt/notesSlides/notesSlide4.xml" Id="R5464bb8bb7cb42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b3daee3dd45e5" /><Relationship Type="http://schemas.openxmlformats.org/officeDocument/2006/relationships/image" Target="/ppt/media/image.png" Id="Rdc9b5007d8d34098" /><Relationship Type="http://schemas.openxmlformats.org/officeDocument/2006/relationships/image" Target="/ppt/media/image2.png" Id="R35cac4de659d4145" /><Relationship Type="http://schemas.openxmlformats.org/officeDocument/2006/relationships/notesSlide" Target="/ppt/notesSlides/notesSlide5.xml" Id="Rd370f02a3d6b4f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2925d20edb43e7" /><Relationship Type="http://schemas.openxmlformats.org/officeDocument/2006/relationships/notesSlide" Target="/ppt/notesSlides/notesSlide6.xml" Id="R45eacd1cfcbf48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5A8F1-77B3-4401-B1B6-09ED7102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83D9D-ADD4-42E4-B0AD-EB42EF64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0E0BF-667A-4C0C-8EFE-83E112E6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B2A"/>
              </a:gs>
              <a:gs pos="55000">
                <a:srgbClr val="133B4A"/>
              </a:gs>
              <a:gs pos="100000">
                <a:srgbClr val="1F2937"/>
              </a:gs>
            </a:gsLst>
            <a:lin ang="2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B09BD-6598-4CB2-BDF2-D48BDC6D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84B3F-C428-4E8F-8D2E-AE73FB09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低照度图像增强系统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CA8CB-C5D7-4DC1-A478-D3EB6967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D7E5F0"/>
                </a:solidFill>
                <a:latin typeface="Microsoft YaHei UI"/>
                <a:ea typeface="Microsoft YaHei UI"/>
                <a:cs typeface="Microsoft YaHei UI"/>
              </a:rPr>
              <a:t>基于 Retinex 分解与深度学习的设计与实现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49A6E-79FD-4C8B-9850-084921FD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7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9FB7C8"/>
                </a:solidFill>
                <a:latin typeface="Microsoft YaHei UI"/>
                <a:ea typeface="Microsoft YaHei UI"/>
                <a:cs typeface="Microsoft YaHei UI"/>
              </a:rPr>
              <a:t>5分钟答辩版 | 主要技术、功能框架、关键算法流程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5050D-0E1F-40E4-8888-8E8FFAEF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6"/>
          </a:solidFill>
          <a:ln xmlns:a="http://schemas.openxmlformats.org/drawingml/2006/main" w="13335">
            <a:solidFill>
              <a:srgbClr val="2AAE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8352D-0FC1-4604-8D76-863EEB76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9552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PyTorch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38DAE-643A-4E15-9B76-6D69ED41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479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518"/>
          </a:solidFill>
          <a:ln xmlns:a="http://schemas.openxmlformats.org/drawingml/2006/main" w="13335">
            <a:solidFill>
              <a:srgbClr val="F28C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5532B-BA6C-4E8F-B905-2EA6D03F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955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Retinex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58977-0B50-47A8-9866-0940DAE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40"/>
          </a:solidFill>
          <a:ln xmlns:a="http://schemas.openxmlformats.org/drawingml/2006/main" w="13335">
            <a:solidFill>
              <a:srgbClr val="9FC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634BB-4CDE-42A0-87F9-68F5B130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955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C8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9FC8FF"/>
                </a:solidFill>
                <a:latin typeface="Microsoft YaHei UI"/>
                <a:ea typeface="Microsoft YaHei UI"/>
                <a:cs typeface="Microsoft YaHei UI"/>
              </a:rPr>
              <a:t>Flask + PyQt5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FA64E-E6E1-4CCD-83DD-1897362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项目目标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EE807-A9E9-4769-BCF8-90AFC2DD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DCE8F2"/>
                </a:solidFill>
                <a:latin typeface="Microsoft YaHei UI"/>
                <a:ea typeface="Microsoft YaHei UI"/>
                <a:cs typeface="Microsoft YaHei UI"/>
              </a:rPr>
              <a:t>把夜间、弱光和逆光图像中的暗部信息恢复出来，同时抑制亮度增强带来的噪声放大，并封装成可交互的桌面应用。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f620b879747ce"/>
          <a:srcRect xmlns:a="http://schemas.openxmlformats.org/drawingml/2006/main" l="24444" t="0" r="24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76300"/>
            <a:ext cx="2190750" cy="28575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e7fbd29214dce"/>
          <a:srcRect xmlns:a="http://schemas.openxmlformats.org/drawingml/2006/main" l="24444" t="0" r="24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876300"/>
            <a:ext cx="2190750" cy="2857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2AA76-74D3-43EC-BD9D-40FFDA45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D8E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C9D8E5"/>
                </a:solidFill>
                <a:latin typeface="Microsoft YaHei UI"/>
                <a:ea typeface="Microsoft YaHei UI"/>
                <a:cs typeface="Microsoft YaHei UI"/>
              </a:rPr>
              <a:t>输入：低照度图像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31DC9-AE96-4E18-8E86-5E003E0E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D8E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C9D8E5"/>
                </a:solidFill>
                <a:latin typeface="Microsoft YaHei UI"/>
                <a:ea typeface="Microsoft YaHei UI"/>
                <a:cs typeface="Microsoft YaHei UI"/>
              </a:rPr>
              <a:t>输出：增强图像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64423-FECE-4E13-B7BF-378991FB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19300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BC612-0B83-4FB6-9A2F-41BE93C2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FCB06-F7AF-4984-86F1-E1575645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E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C7D7E6"/>
                </a:solidFill>
                <a:latin typeface="Microsoft YaHei UI"/>
                <a:ea typeface="Microsoft YaHei UI"/>
                <a:cs typeface="Microsoft YaHei UI"/>
              </a:rPr>
              <a:t>汇报路径：问题背景  →  技术路线  →  系统框架  →  算法流程  →  训练优化  →  总结展望</a:t>
            </a:r>
          </a:p>
        </p:txBody>
      </p:sp>
    </p:spTree>
    <p:extLst>
      <p:ext uri="{BB962C8B-B14F-4D97-AF65-F5344CB8AC3E}">
        <p14:creationId xmlns:p14="http://schemas.microsoft.com/office/powerpoint/2010/main" val="6895294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1AD1A-ED55-4D0C-BAAF-CE73691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B6012-69A4-416A-AD85-8642C749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01 主要技术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0F4B8-439B-49E6-997F-DF175CEF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技术路线围绕“可解释分解 + 学习式增强”展开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81018-75AC-4E27-B5EF-4D011565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模型负责恢复光照与细节，工程层负责把推理能力变成可操作的应用。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87DCC-C7F6-4974-A492-FE7489C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38AD1-4CC4-4359-83E3-734F2D4F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算法基础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BC77-CF01-4C08-9362-1E627E15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E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31843-3688-4082-AF33-F0DF8FC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4288">
            <a:solidFill>
              <a:srgbClr val="2AAE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8D8DE-7BDC-4A4C-8222-E5A99814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Retinex 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EC415-E2E3-4E2F-97AE-7728FAC2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图像 S 被建模为反射率 R 与光照 L 的乘积：S = R × L。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950C2-78DA-4958-95BF-CAB521E2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1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641B7-8468-46D3-AF2C-3DF1324A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曲线光照增强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D4F04-7F46-41EA-BD7C-091FACF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LCNet 学习非线性增强强度，优先提升暗部并控制亮部过曝。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97D33-A238-401A-9C10-C4E2BA0D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14288">
            <a:solidFill>
              <a:srgbClr val="4C7C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D4AEF-E197-4A23-9DCD-A256BC36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rPr>
              <a:t>反射率去噪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1EB02-A278-4AB1-A4C4-F22B73BB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U-Net 通过编码器、解码器和跳连保留纹理，同时抑制噪声。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2FDB5-8D62-4228-B17B-3F1A0C7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2FFB6-AD1B-43ED-B3B9-91208758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核心模型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8E4CA-4BB1-4D11-B503-57D55177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EB9A0-8562-4BFE-BD54-BAFF093D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4288">
            <a:solidFill>
              <a:srgbClr val="2AAE9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F80E7-9EB3-4CEC-8D52-8649507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Decomposition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94729-AA54-43F4-AFB2-D1BC5C33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 / 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A07DC-ADB5-4615-AECF-CC349797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38500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26758-03B3-4ED6-B7F4-55689631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95600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1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D8B01-7F42-4C81-B9F6-58BD8C4B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670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LCNet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10A54-803B-432A-B24B-64F4BD7D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480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 → L'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326D9E-D8BD-474B-851A-CBA60013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3AB21-8EDC-4001-B158-53DD719C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14288">
            <a:solidFill>
              <a:srgbClr val="4C7C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69ADBE-55D5-4317-8399-BAB765E8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670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rPr>
              <a:t>UNetDenoise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D0ABA-D807-4823-A172-11208D67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480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 → R'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9299FD-EA85-482B-A722-657386F4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25B5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25B5B"/>
                </a:solidFill>
                <a:latin typeface="Microsoft YaHei UI"/>
                <a:ea typeface="Microsoft YaHei UI"/>
                <a:cs typeface="Microsoft YaHei UI"/>
              </a:rPr>
              <a:t>PatchGAN 判别器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1230E-C3F8-4F79-9DD0-899C444B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约束局部亮度与纹理分布，让增强结果更接近真实图像。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1E192C-8BC6-4BED-BA71-AD639FF1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264EC8-08E8-4BE7-A52B-131FCF75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工程实现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66390F-DB8E-41AD-9550-3D6ABD37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EE5786-4BF3-47B0-963E-68C22AC4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1462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1232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0C82A-E91B-4B73-AA06-E93DC8FF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Python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EC707F-E7C6-4B2E-A394-17A6F65C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14625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2AAE9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BC2415-1EB5-4619-996E-75C8F04E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622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PyTorch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EE2330-E951-4D64-B6A9-BF6FFDC3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F28C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E0DAE3-4406-40A3-A18C-3259607A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Flask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D33738-B4EB-43BD-A17A-C37CC6BF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4C7CF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935928-CA54-4C10-8B85-9B29CC3D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9087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rPr>
              <a:t>PyQt5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ADDD34-405D-408D-BF2A-0437397C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71875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63708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95EE95-3C0F-4EF3-8E7A-E7AAD773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PIL / OpenCV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01EA90-3FC2-4A97-A4CA-653742C3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00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训练：LOL-v2、Night_data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推理：best_model.pth / best_model_v2.pth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部署：本地 HTTP 服务 + 桌面端交互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F09102-43A3-416B-9508-9D0C92BC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8F4422-100D-427A-B83A-31FFF619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基于 Retinex 分解与深度学习的低照度图像增强系统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0B6D4F-0C2B-4FC7-A7D3-1F2704EF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81193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8F314D-DAC1-4B03-B454-D5C08A0F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C9449-37B5-471B-8224-16B9243A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02 功能框架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C97A8-8DDC-4A0E-A1BD-B313B982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系统采用前后端分离，把模型能力封装成可交互工具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BC1BC-5E9E-45CB-9495-F16395E7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用户只接触导入、调参、预览和导出，后端统一处理模型推理与结果封装。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2F6FC-F7A9-4F71-83E7-9BC9C692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19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24813-E3F4-4004-B9EE-937DE3A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rPr>
              <a:t>界面层 PyQt5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D6DC5-F659-4026-9CF6-45AAF3C1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C597E-4E5C-4B27-832E-8B29B00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单图增强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局部框选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批量任务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结果预览 / 导出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3D64E-BF32-4399-BC48-86F87113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4C7C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3F257-52ED-4978-8D8D-255F415F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rPr>
              <a:t>高内聚，低耦合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4856E-840F-4510-92B8-934A07D1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19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EE20B-A6F5-44AC-B4AD-E6F010D1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服务层 Flask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0D057-1C54-4BFC-8EBB-37E53136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E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A58A4-00B1-4ED8-B59E-71464EA4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62250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/health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/presets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/recommend_params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/enhance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/enhance_region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/enhance_batch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E1705-7DA7-4880-8FDD-9E56CA0E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815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9525">
            <a:solidFill>
              <a:srgbClr val="2AAE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561E3-A059-468E-AB53-E16453FE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768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高内聚，低耦合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C7180-59DF-44D1-830F-E27B712C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219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8A663-C979-4822-AD5E-93536334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模型层 PyTorch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ED940-F1B7-401A-B3A5-F7D9B23A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39E27-6904-4CED-A03A-B812E02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模型加载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尺寸规整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Retinex 推理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Gamma / 后处理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4079D-5ED4-423D-BF3E-BCDC925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1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D9F78-790C-44ED-A7A1-048A9A79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高内聚，低耦合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1953A-CB16-4DED-9A39-A8CDD164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19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2B9FA-EE40-4372-B50A-E0E8BC2A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数据与输出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6439F6-4509-4BC3-865F-F47F4FB4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163DA-1F88-489C-8BB7-82E34E34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LOL-v2 / Night_data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图片 / 视频帧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Base64 / 文件保存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PSNR / SSIM 曲线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17CB0-6AB3-4EC3-A176-7318AB3C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815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1232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A28E9-F837-4B63-8431-B9AD916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高内聚，低耦合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EA1C2E-5872-4188-8E4A-FE86769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861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HTTP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DF7EB-9745-4163-89FE-13FE4183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861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调用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A7E244-2D5B-424C-83AD-18AADFB2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返回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37A095-58EC-4EA1-A697-2BD20AC4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209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108750-8961-4BB3-A02E-37CDE28B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24250"/>
            <a:ext cx="209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AA972-074B-4D44-A9DD-6601F301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09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72B89-247D-4821-8377-ADAB2A09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AE9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BFE5F0-C861-4071-8C0D-33098AFC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91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局部增强补充流程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42EEA4-8AFF-473B-BCB2-20AEF1F5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912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前端记录归一化选区坐标，后端换算像素区域、裁剪增强，再用羽化掩膜贴回原图。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6A1598-BE34-49AF-834D-E195664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15C3EE-386F-451E-B192-11EACEBA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基于 Retinex 分解与深度学习的低照度图像增强系统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E394A2-059E-4CA4-9E6D-DC41C176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19308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F8F5D3-6B8D-4F50-8EDA-FEB7FC3C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C20A8-1B59-4603-BA06-98618874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03 关键算法流程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E1CFE-9558-4641-B5AE-C8715F15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Retinex 分解让增强过程更可解释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A38CB-3AA1-48AC-8A1A-B8135E88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光照分量负责亮度提升，反射率分量负责颜色与纹理，再重建为最终图像。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fe5ceac624493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943100"/>
            <a:ext cx="1333500" cy="1000125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3546d35d4489c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4019550"/>
            <a:ext cx="1333500" cy="1000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29CBB-E04F-43ED-B5A1-6B5122A3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光照 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FB0D9-3EED-4AEA-9FE7-C4076DC6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反射率 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56BC1-8732-40E1-AE26-7A7A3AFB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1123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D73D1-0D35-4D9F-91CA-C6B83E2F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040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输入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0CF78-3659-41AE-84B5-5CFBD3FA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052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低照度 RGB 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A6E8D-CC80-4B60-99D9-23C788E6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7E04B-232E-44EA-A435-6D3E206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638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4288">
            <a:solidFill>
              <a:srgbClr val="2AAE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A4C34-A989-49EA-99F9-10E128CD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908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Decomposition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6F660-B0F7-4274-A91C-C50416CB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拼接 RGB 与最大通道图，输出 R 和 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043A2-AF16-4176-8EED-083E614B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0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3D920-160D-4F4E-8C9C-3AD33112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57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21714-CFB5-4D56-8907-3FE56665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1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CAD77-0267-494E-9BC6-2A09C4BB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LCNet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EEE63-50DC-4E4C-9872-6988B5B2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384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L' = L + αL(1-L)</a:t>
            </a:r>
          </a:p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迭代 3 次，提升暗部亮度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EF556-D403-4B2C-A575-DC36C87D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14288">
            <a:solidFill>
              <a:srgbClr val="4C7C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EDAA8-5063-461E-90D2-13533544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rPr>
              <a:t>U-Net 去噪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C1A57-95A7-4746-B38D-8CA6812C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R' = R + 0.1F(R)</a:t>
            </a:r>
          </a:p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保留纹理，抑制增强噪声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67A59-805A-42DD-917B-4B66EEF2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3A31E-9364-4F62-95EF-468C74FF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8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A7B48-2E80-469B-AA07-54882AE3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2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C9D98-911B-49FB-948D-F4CCA4B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重建 S'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F5F83-7C63-461F-ACE1-D27AD563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052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S' = R' × L'</a:t>
            </a:r>
          </a:p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再执行 Gamma 与色彩后处理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DBE768-4A03-4E68-881F-3233AF37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B985EC-8FF2-47AD-8DD0-199E9B7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EAFC8A-C7D7-4F0F-80DB-2076BC3B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578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讲解抓手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85548-EBC1-4986-89F6-09E668C6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769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先说明 S=R×L 的物理含义，再讲两条分支：LCNet 管光照，U-Net 管噪声，最后相乘重建。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8EE84-EA03-4B9A-AE01-2F01BCA9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6AE1D4-384B-4456-B031-0B301B2E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基于 Retinex 分解与深度学习的低照度图像增强系统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199599-CD09-4DDA-87EE-AA7C0F61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5532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39296-ADFD-4E0A-B566-495A7518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A9B34-806E-49FC-837E-C181A325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04 训练与优化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7EC34-4FCE-4687-8A27-E91006F0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联合损失把亮度、结构、真实感同时约束住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44FB8-403F-4C99-98F3-15CB89F6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训练脚本记录损失曲线与 PSNR / SSIM，用于选择最佳 checkpoint。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8F64C-60CC-43B5-9AD7-B352336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572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D2F5D-196E-4DDA-AFF3-D4214D63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训练配置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87675-C1BF-4B05-9637-7DFDADD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E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B99A3-03E1-4FB5-BF22-5587FB2D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E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60469-193E-4BE3-9B03-B6510CE2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数据：LOL-v2 Real_captured 与 Night_data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1B65A-0FF5-41D0-BDD6-FC204D07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B8E7E-0FBF-4832-A59C-EF0B4285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网络：Decomposition、L2H、H2L、UNetDenoise、3个判别器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439A6-B0CD-49A1-AF91-2257D136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D04B2-DEC1-4DD9-818D-18FEA9B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优化器：Adam，生成器学习率 1e-4，判别器学习率 5e-5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649E2-1929-4B94-A996-917A56D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EFAE7-50D6-4F4C-A72F-B9F7F4E1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评价：PSNR、SSIM，以及二者组合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D1E39-5333-43FD-978B-B88B98F7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14F95-2598-4C18-8F96-B41401EE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输出：checkpoint、对比图、损失曲线、指标曲线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59ADE-AFAC-4DE8-881A-B982652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5619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71B94-519F-4366-9239-1AFF6251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0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损失函数组合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94649-846C-412A-A9FC-54B86E0C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718BA-6A07-414D-8404-3FC1B8A0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E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CA028-7FA3-4366-9593-47972EF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重建损失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AB78E-FDCA-4637-B939-3D397286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保证 R × L 可还原输入图像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017EF-5FF8-46E8-9787-D8966E4C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A094B-C449-4A95-9F07-9B7F5D6B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循环一致性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07223-2D66-4410-920E-0D42570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L2H 与 H2L 双向约束亮度转换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E4E58C-C10E-4480-9EB5-4BF4258A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46A26F-A1A2-4519-B12B-84FB10C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光照先验 / 平滑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18BE9-57AC-4495-AE9F-63C0CF60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让光照图符合自然照明变化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38BE85-FC38-40B5-84B3-65594465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3CC712-C7D3-4389-9097-77922115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反射率约束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595685-7520-4777-BCF7-85285DA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保持纹理与颜色结构稳定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C0208-0029-4EBB-B36A-2D1D6642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07AC2F-E92D-4F76-BA7A-4B564A57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对抗损失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78D0EF-6D89-4D00-9415-B942F467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提升局部亮度和纹理真实感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b5007d8d34098"/>
          <a:stretch xmlns:a="http://schemas.openxmlformats.org/drawingml/2006/main"/>
        </p:blipFill>
        <p:spPr>
          <a:xfrm xmlns:a="http://schemas.openxmlformats.org/drawingml/2006/main">
            <a:off x="7753350" y="5010150"/>
            <a:ext cx="1104900" cy="5524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ac4de659d4145"/>
          <a:stretch xmlns:a="http://schemas.openxmlformats.org/drawingml/2006/main"/>
        </p:blipFill>
        <p:spPr>
          <a:xfrm xmlns:a="http://schemas.openxmlformats.org/drawingml/2006/main">
            <a:off x="9448800" y="5010150"/>
            <a:ext cx="1104900" cy="5524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B09B68-2819-41E3-A8F4-FA886A22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816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训练过程可视化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D4BFF9-1385-46A6-89D1-1E4E8E07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3E545A-17D1-4869-9C97-BF4DA0A3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基于 Retinex 分解与深度学习的低照度图像增强系统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CD8CFD-90E5-468A-A212-4AB7CED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60963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72C13-7D2D-4255-B93A-5829BCDB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02E19-1973-4E1B-A34A-6A5DE1F8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05 展示节奏与总结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4DDCA-55FE-4B57-920F-7670080D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5分钟内按“问题、方法、系统、算法、结果”收束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FB8C4-A670-48CF-9224-D6FEF01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37083"/>
                </a:solidFill>
                <a:latin typeface="Microsoft YaHei UI"/>
                <a:ea typeface="Microsoft YaHei UI"/>
                <a:cs typeface="Microsoft YaHei UI"/>
              </a:rPr>
              <a:t>答辩时突出核心贡献，细节问题再展开代码与公式。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9A9A7-FB70-46C6-9754-CC2E44FC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857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5E971-3EA2-4AD3-B38A-D0DC07AF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展示时间分配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7E208-DEF6-4A68-BDB1-54B4CC7F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E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C6774-2B0B-4E95-975C-86300B12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D99F4-790A-4D89-A5BA-44DBF452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0:00-0:35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81D8D-1636-4ACB-A922-FB8386A0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24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背景与目标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CDDAC-E94E-4750-B071-52C15AC6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E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4C236-77B3-4389-B0CF-2E8D35E1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813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0:35-1:20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BD224-299E-4144-BBD6-8258C042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81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主要技术路线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8C524-B6C0-4358-975A-0E074D15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A1793-B56F-4BB2-B43C-87614F55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rPr>
              <a:t>1:20-2:05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7D983-2DDE-453C-9522-0151C328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385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系统功能框架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1CF8A-EA83-47E3-966C-404759AC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B5E3B-74C8-40B3-A88B-1F15C788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2:05-3:15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0A70D-349A-4CBC-BE2C-F748748A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关键算法流程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0D5EC-13CD-4054-9851-DBF649B0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BDDF2-2F91-469C-AF7B-4DA48CCE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5B5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25B5B"/>
                </a:solidFill>
                <a:latin typeface="Microsoft YaHei UI"/>
                <a:ea typeface="Microsoft YaHei UI"/>
                <a:cs typeface="Microsoft YaHei UI"/>
              </a:rPr>
              <a:t>3:15-4:10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01539-D7E9-4E11-BE14-0723A550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52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训练与优化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2E69B-9025-4A85-9643-393DF291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5ADCA-065B-4FEC-B752-DFD3FAC0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01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4:10-4:50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DC5A0-28F7-480F-87B6-C69F4B4B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10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效果、问题与展望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381646-D40D-4238-BD18-7F3A3FA3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0AA13-08C3-40DB-A829-9EF4E6F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81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总结陈述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78B984-C0B8-45EE-AB94-C00984F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834CF-1CFC-4DFC-B6D5-733E76BF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AAE9F"/>
                </a:solidFill>
                <a:latin typeface="Microsoft YaHei UI"/>
                <a:ea typeface="Microsoft YaHei UI"/>
                <a:cs typeface="Microsoft YaHei UI"/>
              </a:rPr>
              <a:t>已完成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A1972-A21D-4082-8F6B-DE98CF64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图像增强模型、Flask 后端、PyQt5 桌面端、单图/局部/批量/视频增强流程。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96F63-3200-4E04-AB4E-CD77F29F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8C28"/>
                </a:solidFill>
                <a:latin typeface="Microsoft YaHei UI"/>
                <a:ea typeface="Microsoft YaHei UI"/>
                <a:cs typeface="Microsoft YaHei UI"/>
              </a:rPr>
              <a:t>核心价值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503DC8-3EC8-45A9-B919-EBAD2059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通过 Retinex 分解提高可解释性，通过 LCNet 与 U-Net 分工处理亮度和噪声。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DA70C8-B445-47D6-91B2-B3FC939F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4C7CF3"/>
                </a:solidFill>
                <a:latin typeface="Microsoft YaHei UI"/>
                <a:ea typeface="Microsoft YaHei UI"/>
                <a:cs typeface="Microsoft YaHei UI"/>
              </a:rPr>
              <a:t>后续方向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0E700-BF2E-403E-B523-F54428DB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扩充复杂夜间数据，引入时序一致性网络，进一步压缩模型以适配移动端或嵌入式部署。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101384-26AB-4E75-A7DE-51F5176C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434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1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96529D-2013-462A-A384-C2533C47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05425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2324A"/>
                </a:solidFill>
                <a:latin typeface="Microsoft YaHei UI"/>
                <a:ea typeface="Microsoft YaHei UI"/>
                <a:cs typeface="Microsoft YaHei UI"/>
              </a:rPr>
              <a:t>结束语：系统已经形成从训练、推理到交互展示的完整闭环。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831D2F-0FF7-4D2D-BA04-ADBFCC5D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6B3B23-8392-4BAE-B1F1-86F6195A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基于 Retinex 分解与深度学习的低照度图像增强系统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598B0-9017-4729-828F-72F6E5C2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8792A1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3871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2026-06-04T12:32:57.5020000Z</dcterms:created>
  <dcterms:modified xsi:type="dcterms:W3CDTF">2026-06-04T12:32:57.5020000Z</dcterms:modified>
</coreProperties>
</file>